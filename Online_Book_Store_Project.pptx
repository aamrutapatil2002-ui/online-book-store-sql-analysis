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C06233-9B20-4846-9233-71B85A0B228A}" v="8" dt="2026-08-15T13:00:47.6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88089-3C2F-453B-0107-F0FC796E1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2D060-47BE-71DC-FCD7-F3FA8D139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91416-6378-938E-4765-CA42DB035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88A8-3191-4E86-A826-C8AA121C47B9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93B2-5C58-63AD-4970-6B2CFD352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457B0-9021-B9B0-DC9C-CE5D875E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55C4-2609-404F-8B6E-C7899A0262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655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624F-3C6C-0331-1D5E-E88A3C39D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3470B-40CE-5010-4300-9EC1CB6DD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48956-164B-D422-DF68-26397D503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88A8-3191-4E86-A826-C8AA121C47B9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F82C8-5100-6742-2F4A-16421DB1A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C4FFD-EE8E-B922-A605-8964061F7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55C4-2609-404F-8B6E-C7899A0262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47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5C6BD-E13C-2079-6D5A-42C713EE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C982C-6703-8E9D-BF4D-ED4D0B70E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BAF62-2F29-F252-121F-59F97046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88A8-3191-4E86-A826-C8AA121C47B9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93E1D-65BC-6978-95A0-49D85FF29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CCB4E-AF8C-24E0-979D-DEE9E4D5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55C4-2609-404F-8B6E-C7899A0262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374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06296-E08E-115C-CD9A-D2857A2DC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CFEA4-20FD-11B5-9F10-8A8D301FF3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B191D-43E1-91E1-9391-4C77D5C8B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2BCFF-A4B4-27F1-2C0C-E6E572345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88A8-3191-4E86-A826-C8AA121C47B9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07CD7-9671-FCA0-B80F-A2E746433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204C88-4DBE-3EF3-B60B-1045709CF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55C4-2609-404F-8B6E-C7899A0262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890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58368-C54A-4F6D-E129-1E91AA5CD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4CDA9-DD40-A967-10A1-328F38C09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B73DB-55CA-85E1-F0F3-CDE671257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A8920A-A00F-2E46-4274-C88B807610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1776D-BE9F-0B68-EB28-5AE45823F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5C8896-BC96-CC82-4210-282DE5D4D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88A8-3191-4E86-A826-C8AA121C47B9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06A933-556C-154F-C3DF-4E6D55F28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24F66C-376F-3AF2-C7F6-0ED4526FA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55C4-2609-404F-8B6E-C7899A0262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5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9E5A7-72E6-7AE9-C142-903E3E4B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299CB-CBB6-3D81-6FC8-8C72FA21E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88A8-3191-4E86-A826-C8AA121C47B9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B85DE1-E364-95FC-F323-A64028B5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53293-3372-0774-AA6F-896C16AB1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55C4-2609-404F-8B6E-C7899A0262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714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378057-A4B7-5BEF-F530-1CFD67F6B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88A8-3191-4E86-A826-C8AA121C47B9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D8C387-C142-B1FC-8518-889E66856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EC1D7-D88F-292D-C323-098150BAC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55C4-2609-404F-8B6E-C7899A0262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755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3144B-5E00-2E7F-CDC3-76A4104CB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A0AB0-19F0-0CE9-FC36-DEB9D3E43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75A54-9AA3-4B6D-8784-491336B49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4E065-A276-98A4-5B8B-AF752450D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88A8-3191-4E86-A826-C8AA121C47B9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62559-EDD4-2D65-219B-299AAE90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D159D-0493-8EEC-BADC-E8910511F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55C4-2609-404F-8B6E-C7899A0262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196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38D29-7FFB-74E7-50E8-8B011F10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77F50A-0701-06DA-55EE-20300ECA3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4F32F-6ED7-D155-77E1-69911F6D1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3D722-8654-7B10-1D30-C53F99B6A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88A8-3191-4E86-A826-C8AA121C47B9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7F185-9E33-18BA-F743-CD734F697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0E412-5389-5796-7CB9-3E9434508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55C4-2609-404F-8B6E-C7899A0262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69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1CBB5-8D1F-4A14-E373-B8BCF305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E8CFC-51F7-CB5D-90A2-D3147038C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9463A-4E61-60D4-03FD-07CCC5E80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88A8-3191-4E86-A826-C8AA121C47B9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4743E-BF14-C86C-DF92-C66C2F45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83ED4-DDD8-B3E9-536F-F7F7CEDC1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55C4-2609-404F-8B6E-C7899A0262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583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F8DBDF-DAAF-512D-0066-161273FF3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E4E27-0592-5C3C-AAF2-3F77453FD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63211-D4DD-996B-946F-134C7EFF2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88A8-3191-4E86-A826-C8AA121C47B9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C0C1F-48D3-2C86-5F4A-03E8037F6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16BEA-D5F9-0E6A-A56F-312DCBEE5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55C4-2609-404F-8B6E-C7899A0262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106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3E330E-9E26-4676-420D-2C49A7BD1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839D0-A9E7-C5AB-B0C4-A5B5C2D62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B3FE7-5759-E5FE-513E-884C71408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588A8-3191-4E86-A826-C8AA121C47B9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A0AC9-025A-EA6D-DF2A-C3E275704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EB896-D38B-19E1-B845-FC0E1A964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755C4-2609-404F-8B6E-C7899A0262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143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614D78-C62A-DD65-FF78-C33E2B3D9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362" y="0"/>
            <a:ext cx="7511970" cy="6857999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655205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178951-E06F-906C-81F7-2CCAE40C2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368" y="433137"/>
            <a:ext cx="9368590" cy="56468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endPos="0" dist="508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33AE9F-E673-5B53-169F-1F00F9DB9C6C}"/>
              </a:ext>
            </a:extLst>
          </p:cNvPr>
          <p:cNvSpPr txBox="1"/>
          <p:nvPr/>
        </p:nvSpPr>
        <p:spPr>
          <a:xfrm>
            <a:off x="1925052" y="0"/>
            <a:ext cx="71788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DATABASE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6A3B7-481F-62C9-3ADB-EAB49C9197B9}"/>
              </a:ext>
            </a:extLst>
          </p:cNvPr>
          <p:cNvSpPr txBox="1"/>
          <p:nvPr/>
        </p:nvSpPr>
        <p:spPr>
          <a:xfrm>
            <a:off x="1" y="6079958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Database Structure:</a:t>
            </a:r>
            <a:r>
              <a:rPr lang="en-IN" sz="2000" dirty="0"/>
              <a:t> Designed a relational Online Book Store database using Books, Customers, and Orders tables connected through primary and foreign keys.</a:t>
            </a:r>
          </a:p>
        </p:txBody>
      </p:sp>
    </p:spTree>
    <p:extLst>
      <p:ext uri="{BB962C8B-B14F-4D97-AF65-F5344CB8AC3E}">
        <p14:creationId xmlns:p14="http://schemas.microsoft.com/office/powerpoint/2010/main" val="3779331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7AB196-8499-43A4-D3B9-07007DBD367D}"/>
              </a:ext>
            </a:extLst>
          </p:cNvPr>
          <p:cNvSpPr txBox="1"/>
          <p:nvPr/>
        </p:nvSpPr>
        <p:spPr>
          <a:xfrm>
            <a:off x="2855495" y="0"/>
            <a:ext cx="5518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SALES ANALYSIS BY GENRE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60268-F230-E8F3-7A7D-B1E9773B4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421" y="464920"/>
            <a:ext cx="8742947" cy="57621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5C49F4-3969-2430-B9D4-7C179B6C72D1}"/>
              </a:ext>
            </a:extLst>
          </p:cNvPr>
          <p:cNvSpPr txBox="1"/>
          <p:nvPr/>
        </p:nvSpPr>
        <p:spPr>
          <a:xfrm>
            <a:off x="-160421" y="6227058"/>
            <a:ext cx="1206366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SQL Concepts Used: JOIN • SUM() • GROUP BY • ORDER BY</a:t>
            </a:r>
          </a:p>
          <a:p>
            <a:pPr algn="ctr"/>
            <a:r>
              <a:rPr lang="en-IN" sz="2000" b="1" dirty="0"/>
              <a:t>Business Objective: Identify the book genres generating the highest sales volume</a:t>
            </a:r>
            <a:r>
              <a:rPr lang="en-IN" sz="2000" dirty="0"/>
              <a:t>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2061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D58683-4043-2310-B823-D292601DE72F}"/>
              </a:ext>
            </a:extLst>
          </p:cNvPr>
          <p:cNvSpPr txBox="1"/>
          <p:nvPr/>
        </p:nvSpPr>
        <p:spPr>
          <a:xfrm>
            <a:off x="2662990" y="0"/>
            <a:ext cx="63553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b="1" dirty="0"/>
              <a:t>CUSTOMER SPENDING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30109C-BD8D-2D20-C838-49349ED3F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505" y="449178"/>
            <a:ext cx="8566484" cy="556661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6F9A23-3BDB-E15D-7303-209AD142C950}"/>
              </a:ext>
            </a:extLst>
          </p:cNvPr>
          <p:cNvSpPr txBox="1"/>
          <p:nvPr/>
        </p:nvSpPr>
        <p:spPr>
          <a:xfrm>
            <a:off x="-102914" y="6015789"/>
            <a:ext cx="1188720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SQL Concepts Used</a:t>
            </a:r>
            <a:r>
              <a:rPr lang="en-IN" sz="2000" dirty="0"/>
              <a:t>:  </a:t>
            </a:r>
            <a:r>
              <a:rPr lang="en-IN" sz="2000" b="1" dirty="0"/>
              <a:t>JOIN • SUM() • GROUP BY • ORDER BY</a:t>
            </a:r>
          </a:p>
          <a:p>
            <a:pPr algn="ctr"/>
            <a:r>
              <a:rPr lang="en-IN" sz="2400" b="1" dirty="0"/>
              <a:t>Business Objective:  Identify high-value customers based on their total spending</a:t>
            </a:r>
          </a:p>
          <a:p>
            <a:endParaRPr lang="en-IN" sz="20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8640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4F7B00-D5A5-8B6D-606C-2126C2CBA5E3}"/>
              </a:ext>
            </a:extLst>
          </p:cNvPr>
          <p:cNvSpPr txBox="1"/>
          <p:nvPr/>
        </p:nvSpPr>
        <p:spPr>
          <a:xfrm>
            <a:off x="2005264" y="0"/>
            <a:ext cx="85350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/>
              <a:t>CUSTOMER RANKING USING WINDOW FUNCTIONS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18CE91-8002-24B6-030B-B922C0219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643" y="385010"/>
            <a:ext cx="8775726" cy="564682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44B870-BCA7-B74D-A37C-AAFB82B7F27D}"/>
              </a:ext>
            </a:extLst>
          </p:cNvPr>
          <p:cNvSpPr txBox="1"/>
          <p:nvPr/>
        </p:nvSpPr>
        <p:spPr>
          <a:xfrm>
            <a:off x="521715" y="6031831"/>
            <a:ext cx="115021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Advanced SQL Concepts</a:t>
            </a:r>
            <a:r>
              <a:rPr lang="en-IN" dirty="0"/>
              <a:t>:  </a:t>
            </a:r>
            <a:r>
              <a:rPr lang="en-IN" b="1" dirty="0"/>
              <a:t>RANK() • Window Functions • JOIN • GROUP BY • Aggregate Functions</a:t>
            </a:r>
          </a:p>
          <a:p>
            <a:pPr algn="ctr"/>
            <a:r>
              <a:rPr lang="en-IN" b="1" dirty="0"/>
              <a:t>Business Objective:  Ranked customers based on their total spending to identify high-value customers.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2215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58C914-ECD1-63D0-1232-8BBCD5117BF1}"/>
              </a:ext>
            </a:extLst>
          </p:cNvPr>
          <p:cNvSpPr txBox="1"/>
          <p:nvPr/>
        </p:nvSpPr>
        <p:spPr>
          <a:xfrm>
            <a:off x="1812757" y="0"/>
            <a:ext cx="7652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BEST-SELLING BOOK BY GENRE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9080D3-F248-24A0-31CB-0E0F42228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757" y="417095"/>
            <a:ext cx="8566486" cy="58407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6FC231-B05A-2EDC-5AA3-4FFF4A6ABFFD}"/>
              </a:ext>
            </a:extLst>
          </p:cNvPr>
          <p:cNvSpPr txBox="1"/>
          <p:nvPr/>
        </p:nvSpPr>
        <p:spPr>
          <a:xfrm>
            <a:off x="0" y="625783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Advanced SQL Concepts:  CTE • RANK() • PARTITION BY • JOIN • GROUP BY</a:t>
            </a:r>
          </a:p>
          <a:p>
            <a:pPr algn="ctr"/>
            <a:r>
              <a:rPr lang="en-IN" b="1" dirty="0"/>
              <a:t>Business Objective:  Identify the best-selling book within each genre to understand product-level performance</a:t>
            </a:r>
            <a:r>
              <a:rPr lang="en-IN" sz="1600" dirty="0"/>
              <a:t>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1479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45BCA5-00D9-5A3B-E84D-B1B76158524A}"/>
              </a:ext>
            </a:extLst>
          </p:cNvPr>
          <p:cNvSpPr txBox="1"/>
          <p:nvPr/>
        </p:nvSpPr>
        <p:spPr>
          <a:xfrm>
            <a:off x="4084879" y="0"/>
            <a:ext cx="4291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b="1" dirty="0"/>
              <a:t>INVENTORY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727FE-0477-083F-E947-ED7D59949762}"/>
              </a:ext>
            </a:extLst>
          </p:cNvPr>
          <p:cNvSpPr txBox="1"/>
          <p:nvPr/>
        </p:nvSpPr>
        <p:spPr>
          <a:xfrm>
            <a:off x="606100" y="5836385"/>
            <a:ext cx="1074922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dirty="0"/>
              <a:t>SQL Concepts Used:  LEFT JOIN • COALESCE() • SUM() • GROUP BY</a:t>
            </a:r>
          </a:p>
          <a:p>
            <a:pPr algn="ctr"/>
            <a:r>
              <a:rPr lang="en-IN" sz="2000" b="1" dirty="0"/>
              <a:t>Business Objective:  Calculate ordered quantities and remaining inventory for each book to</a:t>
            </a:r>
          </a:p>
          <a:p>
            <a:pPr algn="ctr"/>
            <a:r>
              <a:rPr lang="en-IN" sz="2000" b="1" dirty="0"/>
              <a:t> support stock monitoring.</a:t>
            </a:r>
          </a:p>
          <a:p>
            <a:pPr algn="ctr"/>
            <a:endParaRPr lang="en-IN" sz="2000" b="1" dirty="0"/>
          </a:p>
          <a:p>
            <a:pPr algn="ctr"/>
            <a:endParaRPr lang="en-IN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D64654-9BE3-8F39-286E-587CC91F2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179" y="465221"/>
            <a:ext cx="8017377" cy="53711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7806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8BBB3F-16EC-3527-68F3-DB62343E7B7E}"/>
              </a:ext>
            </a:extLst>
          </p:cNvPr>
          <p:cNvSpPr txBox="1"/>
          <p:nvPr/>
        </p:nvSpPr>
        <p:spPr>
          <a:xfrm>
            <a:off x="3164075" y="0"/>
            <a:ext cx="58638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b="1" dirty="0"/>
              <a:t>REVENUE ANALYSIS BY GENRE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CD8A89-4F64-5A39-E4D2-250FAD952C68}"/>
              </a:ext>
            </a:extLst>
          </p:cNvPr>
          <p:cNvSpPr txBox="1"/>
          <p:nvPr/>
        </p:nvSpPr>
        <p:spPr>
          <a:xfrm>
            <a:off x="176463" y="625783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SQL Concepts Used:  JOIN • SUM() • GROUP BY • ORDER BY</a:t>
            </a:r>
          </a:p>
          <a:p>
            <a:pPr algn="ctr"/>
            <a:r>
              <a:rPr lang="en-IN" b="1" dirty="0"/>
              <a:t>Business Objective:  Analyse revenue contribution by genre and identify the highest-performing book categories.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6410F-E7D9-F759-325C-E68497F76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684" y="473122"/>
            <a:ext cx="7523748" cy="57847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9216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1621</TotalTime>
  <Words>226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Amruta Patil</dc:creator>
  <cp:lastModifiedBy>Amruta Patil</cp:lastModifiedBy>
  <cp:revision>2</cp:revision>
  <dcterms:created xsi:type="dcterms:W3CDTF">2026-08-15T08:47:59Z</dcterms:created>
  <dcterms:modified xsi:type="dcterms:W3CDTF">2026-08-17T12:45:49Z</dcterms:modified>
</cp:coreProperties>
</file>